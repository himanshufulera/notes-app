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5" r:id="rId1"/>
  </p:sldMasterIdLst>
  <p:notesMasterIdLst>
    <p:notesMasterId r:id="rId13"/>
  </p:notesMasterIdLst>
  <p:sldIdLst>
    <p:sldId id="261" r:id="rId2"/>
    <p:sldId id="268" r:id="rId3"/>
    <p:sldId id="284" r:id="rId4"/>
    <p:sldId id="258" r:id="rId5"/>
    <p:sldId id="285" r:id="rId6"/>
    <p:sldId id="269" r:id="rId7"/>
    <p:sldId id="287" r:id="rId8"/>
    <p:sldId id="288" r:id="rId9"/>
    <p:sldId id="292" r:id="rId10"/>
    <p:sldId id="281" r:id="rId11"/>
    <p:sldId id="289" r:id="rId12"/>
  </p:sldIdLst>
  <p:sldSz cx="14630400" cy="8229600"/>
  <p:notesSz cx="8229600" cy="14630400"/>
  <p:embeddedFontLst>
    <p:embeddedFont>
      <p:font typeface="DM Sans Medium" pitchFamily="2" charset="0"/>
      <p:regular r:id="rId14"/>
      <p:italic r:id="rId15"/>
    </p:embeddedFont>
    <p:embeddedFont>
      <p:font typeface="Garamond" panose="02020404030301010803" pitchFamily="18" charset="0"/>
      <p:regular r:id="rId16"/>
      <p:bold r:id="rId17"/>
      <p: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8F5"/>
    <a:srgbClr val="FFFFFF"/>
    <a:srgbClr val="EDE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37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8088-A2FF-1768-B33E-152B5E390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B0C14-C7A2-6EB6-EE75-87C936A57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91A5D-8AD9-44D1-5EBF-62EC0F1CC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66F8F-882C-BD71-F779-353D556A0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53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E991-0F32-D384-206F-F07469AB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1CB8B-9699-DC6B-3D00-7DCF730F5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95A01-01D0-69ED-ABCC-22238099E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16AEA-0CF2-4C05-0B7D-CC5E56E62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48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0321" y="0"/>
            <a:ext cx="14677392" cy="8227457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145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7703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7147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8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4387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4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4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9492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5598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863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0321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9203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841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2744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8973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0785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60451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36124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00099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21439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034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43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883" y="0"/>
            <a:ext cx="14675954" cy="8227457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571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16.170.204.49:30007/" TargetMode="Externa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16.170.204.49:30007/" TargetMode="External"/><Relationship Id="rId2" Type="http://schemas.openxmlformats.org/officeDocument/2006/relationships/hyperlink" Target="https://github.com/HimanshuFulera/notes-app" TargetMode="Externa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2D73A5-3221-4132-4E73-25F82939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337" y="2971081"/>
            <a:ext cx="3786816" cy="13279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F393DA-29B6-1AD9-357E-687ECA80B16B}"/>
              </a:ext>
            </a:extLst>
          </p:cNvPr>
          <p:cNvSpPr txBox="1"/>
          <p:nvPr/>
        </p:nvSpPr>
        <p:spPr>
          <a:xfrm>
            <a:off x="3148732" y="6322880"/>
            <a:ext cx="83634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" marR="42989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en-US" sz="20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fulfilment</a:t>
            </a:r>
            <a:r>
              <a:rPr lang="en-US" sz="20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z="20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lang="en-US" sz="20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award</a:t>
            </a:r>
            <a:r>
              <a:rPr lang="en-US" sz="20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degree of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735" marR="429895" algn="ctr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Bachelor</a:t>
            </a:r>
            <a:r>
              <a:rPr lang="en-US" sz="20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Technology(</a:t>
            </a:r>
            <a:r>
              <a:rPr lang="en-US" sz="2000" b="1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20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4" descr="$PPTXTitle">
            <a:extLst>
              <a:ext uri="{FF2B5EF4-FFF2-40B4-BE49-F238E27FC236}">
                <a16:creationId xmlns:a16="http://schemas.microsoft.com/office/drawing/2014/main" id="{6A6FDFD5-8691-E823-147A-2928C8B23B57}"/>
              </a:ext>
            </a:extLst>
          </p:cNvPr>
          <p:cNvSpPr txBox="1">
            <a:spLocks/>
          </p:cNvSpPr>
          <p:nvPr/>
        </p:nvSpPr>
        <p:spPr>
          <a:xfrm>
            <a:off x="1674556" y="1036026"/>
            <a:ext cx="11311767" cy="755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 algn="ctr" defTabSz="548640" rtl="0" eaLnBrk="1" latinLnBrk="0" hangingPunct="1">
              <a:spcBef>
                <a:spcPct val="0"/>
              </a:spcBef>
              <a:buNone/>
              <a:defRPr sz="528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130"/>
              </a:spcBef>
            </a:pPr>
            <a:r>
              <a:rPr lang="en-IN" sz="4800" dirty="0">
                <a:solidFill>
                  <a:srgbClr val="0034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</a:t>
            </a:r>
            <a:r>
              <a:rPr lang="en-IN" sz="4800" spc="1555" dirty="0">
                <a:solidFill>
                  <a:srgbClr val="0034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spc="-95" dirty="0">
                <a:solidFill>
                  <a:srgbClr val="0331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</a:t>
            </a:r>
            <a:r>
              <a:rPr lang="en-IN" sz="4800" spc="-160" dirty="0">
                <a:solidFill>
                  <a:srgbClr val="0331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spc="-10" dirty="0">
                <a:solidFill>
                  <a:srgbClr val="0134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3614E57-DE2E-BEF6-C319-DAB79F70FF80}"/>
              </a:ext>
            </a:extLst>
          </p:cNvPr>
          <p:cNvSpPr txBox="1"/>
          <p:nvPr/>
        </p:nvSpPr>
        <p:spPr>
          <a:xfrm>
            <a:off x="3962716" y="1888719"/>
            <a:ext cx="8178862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45" dirty="0">
                <a:solidFill>
                  <a:srgbClr val="6079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Cloud—</a:t>
            </a:r>
            <a:r>
              <a:rPr sz="2000" dirty="0">
                <a:solidFill>
                  <a:srgbClr val="6079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sz="2000" spc="434" dirty="0">
                <a:solidFill>
                  <a:srgbClr val="6079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5" dirty="0">
                <a:solidFill>
                  <a:srgbClr val="7070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sz="2000" spc="280" dirty="0">
                <a:solidFill>
                  <a:srgbClr val="7070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757E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spc="5" dirty="0">
                <a:solidFill>
                  <a:srgbClr val="757E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solidFill>
                  <a:srgbClr val="5B75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Docker,</a:t>
            </a:r>
            <a:r>
              <a:rPr sz="2000" spc="-10" dirty="0">
                <a:solidFill>
                  <a:srgbClr val="5B75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25" dirty="0">
                <a:solidFill>
                  <a:srgbClr val="5969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sz="2000" spc="180" dirty="0">
                <a:solidFill>
                  <a:srgbClr val="5969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25" dirty="0">
                <a:solidFill>
                  <a:srgbClr val="5677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000" spc="70" dirty="0">
                <a:solidFill>
                  <a:srgbClr val="5677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solidFill>
                  <a:srgbClr val="5D6E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D444E4A-7BB0-5E84-00C0-56CAED1EBFE2}"/>
              </a:ext>
            </a:extLst>
          </p:cNvPr>
          <p:cNvSpPr txBox="1"/>
          <p:nvPr/>
        </p:nvSpPr>
        <p:spPr>
          <a:xfrm>
            <a:off x="3962716" y="5059971"/>
            <a:ext cx="6735445" cy="7649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105"/>
              </a:spcBef>
            </a:pPr>
            <a:r>
              <a:rPr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Himanshu Fulera</a:t>
            </a:r>
            <a:endParaRPr lang="en-US" sz="2400" b="1" spc="-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105"/>
              </a:spcBef>
            </a:pPr>
            <a:r>
              <a:rPr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</a:t>
            </a:r>
            <a:r>
              <a:rPr lang="en-US"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429</a:t>
            </a:r>
            <a:r>
              <a:rPr lang="en-US"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2000" b="1" spc="-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97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F9D63-9E48-CDC0-F084-BC76C77C2A9E}"/>
              </a:ext>
            </a:extLst>
          </p:cNvPr>
          <p:cNvSpPr txBox="1"/>
          <p:nvPr/>
        </p:nvSpPr>
        <p:spPr>
          <a:xfrm>
            <a:off x="1103971" y="1068631"/>
            <a:ext cx="10247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>
              <a:spcBef>
                <a:spcPts val="325"/>
              </a:spcBef>
            </a:pPr>
            <a:r>
              <a:rPr lang="en-US" sz="3600" u="sng" dirty="0">
                <a:solidFill>
                  <a:srgbClr val="1616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description of the project idea:</a:t>
            </a:r>
            <a:endParaRPr lang="en-IN" sz="3600" u="sng" dirty="0">
              <a:solidFill>
                <a:srgbClr val="1616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7F5244-46C3-9C6B-74E0-49E03D39D896}"/>
              </a:ext>
            </a:extLst>
          </p:cNvPr>
          <p:cNvSpPr txBox="1"/>
          <p:nvPr/>
        </p:nvSpPr>
        <p:spPr>
          <a:xfrm>
            <a:off x="1103971" y="1704234"/>
            <a:ext cx="12678937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460375">
              <a:lnSpc>
                <a:spcPct val="150000"/>
              </a:lnSpc>
              <a:spcBef>
                <a:spcPts val="25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robust, cloud—hosted web application engineered to demonstrate modern DevOps practices, container orchestration, and seamless cloud infrastructure management.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93EAD4-E71F-6ED0-900B-7C6ED2071E7D}"/>
              </a:ext>
            </a:extLst>
          </p:cNvPr>
          <p:cNvSpPr txBox="1"/>
          <p:nvPr/>
        </p:nvSpPr>
        <p:spPr>
          <a:xfrm>
            <a:off x="1103969" y="3034524"/>
            <a:ext cx="9968221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Live Application Demo: </a:t>
            </a:r>
            <a:r>
              <a:rPr lang="en-US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2"/>
              </a:rPr>
              <a:t>http://16.170.204.49:30007/</a:t>
            </a:r>
            <a:b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EC2 instance.)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(Note: Availability is contingent on the active state of the underlying AWS 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E33FF-79A4-2EA3-E1B6-FDE078754334}"/>
              </a:ext>
            </a:extLst>
          </p:cNvPr>
          <p:cNvSpPr txBox="1"/>
          <p:nvPr/>
        </p:nvSpPr>
        <p:spPr>
          <a:xfrm>
            <a:off x="1103971" y="4108475"/>
            <a:ext cx="12013923" cy="2895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3600" u="sng" dirty="0">
                <a:solidFill>
                  <a:srgbClr val="1616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  <a:endParaRPr lang="en-IN" sz="3600" u="sng" dirty="0">
              <a:solidFill>
                <a:srgbClr val="1616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Operations: Complete capability to Add, View, and Delete notes.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UI: Frontend designed with HTML, CSS, and JS to adapt to various screen sizes.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Immutable Infrastructure: Containerized environment ensuring code runs consistently.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Orchestration: Kubernetes deployment ensuring pod restarts in the event of failure.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576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9D8C1-8549-1C36-C413-4467F1B94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C00B0E-7D43-E50E-5D15-7761AB514731}"/>
              </a:ext>
            </a:extLst>
          </p:cNvPr>
          <p:cNvSpPr/>
          <p:nvPr/>
        </p:nvSpPr>
        <p:spPr>
          <a:xfrm>
            <a:off x="1351661" y="874385"/>
            <a:ext cx="110157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u="sng" dirty="0">
                <a:solidFill>
                  <a:srgbClr val="1616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13C9820F-6B4A-C8EB-09D9-619E35EB4605}"/>
              </a:ext>
            </a:extLst>
          </p:cNvPr>
          <p:cNvGrpSpPr/>
          <p:nvPr/>
        </p:nvGrpSpPr>
        <p:grpSpPr>
          <a:xfrm>
            <a:off x="990295" y="1748754"/>
            <a:ext cx="12232458" cy="871261"/>
            <a:chOff x="926673" y="4052232"/>
            <a:chExt cx="18305780" cy="1005205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5E1A11E8-B265-52A0-B83B-CE9AAD47409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98894" y="4067938"/>
              <a:ext cx="62825" cy="989498"/>
            </a:xfrm>
            <a:prstGeom prst="rect">
              <a:avLst/>
            </a:prstGeom>
          </p:spPr>
        </p:pic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C4479471-DEED-73BB-77E8-C518ECC2A284}"/>
                </a:ext>
              </a:extLst>
            </p:cNvPr>
            <p:cNvSpPr/>
            <p:nvPr/>
          </p:nvSpPr>
          <p:spPr>
            <a:xfrm>
              <a:off x="926673" y="4052232"/>
              <a:ext cx="18305780" cy="997585"/>
            </a:xfrm>
            <a:custGeom>
              <a:avLst/>
              <a:gdLst/>
              <a:ahLst/>
              <a:cxnLst/>
              <a:rect l="l" t="t" r="r" b="b"/>
              <a:pathLst>
                <a:path w="18305780" h="997585">
                  <a:moveTo>
                    <a:pt x="18305726" y="997351"/>
                  </a:moveTo>
                  <a:lnTo>
                    <a:pt x="0" y="997351"/>
                  </a:lnTo>
                  <a:lnTo>
                    <a:pt x="0" y="0"/>
                  </a:lnTo>
                  <a:lnTo>
                    <a:pt x="18305726" y="0"/>
                  </a:lnTo>
                  <a:lnTo>
                    <a:pt x="18305726" y="997351"/>
                  </a:lnTo>
                  <a:close/>
                </a:path>
              </a:pathLst>
            </a:custGeom>
            <a:solidFill>
              <a:srgbClr val="0A2D59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5">
            <a:extLst>
              <a:ext uri="{FF2B5EF4-FFF2-40B4-BE49-F238E27FC236}">
                <a16:creationId xmlns:a16="http://schemas.microsoft.com/office/drawing/2014/main" id="{E4B35E7B-2762-3789-3587-C69166BDFD1C}"/>
              </a:ext>
            </a:extLst>
          </p:cNvPr>
          <p:cNvSpPr txBox="1"/>
          <p:nvPr/>
        </p:nvSpPr>
        <p:spPr>
          <a:xfrm>
            <a:off x="1208148" y="1720805"/>
            <a:ext cx="11878091" cy="675826"/>
          </a:xfrm>
          <a:prstGeom prst="rect">
            <a:avLst/>
          </a:prstGeom>
        </p:spPr>
        <p:txBody>
          <a:bodyPr vert="horz" wrap="square" lIns="0" tIns="280670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2210"/>
              </a:spcBef>
              <a:tabLst>
                <a:tab pos="3775075" algn="l"/>
                <a:tab pos="7379334" algn="l"/>
              </a:tabLst>
            </a:pPr>
            <a:r>
              <a:rPr sz="2450" spc="1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sz="24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55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sz="25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50" spc="19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sz="2450" spc="3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50" spc="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  <a:endParaRPr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A92DCFF-58C7-A2CD-9D82-7F1C3268991B}"/>
              </a:ext>
            </a:extLst>
          </p:cNvPr>
          <p:cNvSpPr txBox="1"/>
          <p:nvPr/>
        </p:nvSpPr>
        <p:spPr>
          <a:xfrm>
            <a:off x="1203367" y="2913511"/>
            <a:ext cx="1975485" cy="3892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24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450" spc="1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50" spc="229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endParaRPr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8C5D9D1E-8101-D4A1-7CE4-1D47002DAA09}"/>
              </a:ext>
            </a:extLst>
          </p:cNvPr>
          <p:cNvSpPr txBox="1"/>
          <p:nvPr/>
        </p:nvSpPr>
        <p:spPr>
          <a:xfrm>
            <a:off x="1201993" y="3894502"/>
            <a:ext cx="1102995" cy="40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65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sz="25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9EC512FF-F175-1607-E455-361F5BC14159}"/>
              </a:ext>
            </a:extLst>
          </p:cNvPr>
          <p:cNvSpPr txBox="1"/>
          <p:nvPr/>
        </p:nvSpPr>
        <p:spPr>
          <a:xfrm>
            <a:off x="1203367" y="4900361"/>
            <a:ext cx="1793875" cy="3892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22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endParaRPr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2B45103F-9C24-CFEB-AEAA-DB03560D2C5E}"/>
              </a:ext>
            </a:extLst>
          </p:cNvPr>
          <p:cNvSpPr txBox="1"/>
          <p:nvPr/>
        </p:nvSpPr>
        <p:spPr>
          <a:xfrm>
            <a:off x="1208148" y="5865646"/>
            <a:ext cx="1414145" cy="800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335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  <a:r>
              <a:rPr sz="2550" spc="33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EC2</a:t>
            </a:r>
            <a:endParaRPr sz="25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2754993-BF2F-E7DF-458D-CE3D7659F5BC}"/>
              </a:ext>
            </a:extLst>
          </p:cNvPr>
          <p:cNvSpPr txBox="1"/>
          <p:nvPr/>
        </p:nvSpPr>
        <p:spPr>
          <a:xfrm>
            <a:off x="4726690" y="2888642"/>
            <a:ext cx="8700343" cy="1849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09340" algn="l"/>
              </a:tabLst>
            </a:pPr>
            <a:r>
              <a:rPr sz="2700" spc="-1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sz="270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050" baseline="1028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r>
              <a:rPr sz="4050" spc="660" baseline="1028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aseline="1028" dirty="0">
                <a:solidFill>
                  <a:srgbClr val="2D4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4050" spc="217" baseline="1028" dirty="0">
                <a:solidFill>
                  <a:srgbClr val="2D4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spc="150" baseline="1028" dirty="0" err="1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WSGl</a:t>
            </a:r>
            <a:r>
              <a:rPr sz="4050" spc="150" baseline="1028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4050" spc="135" baseline="1028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compliant</a:t>
            </a:r>
            <a:r>
              <a:rPr sz="4050" spc="97" baseline="1028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50" spc="97" baseline="1028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09340" algn="l"/>
              </a:tabLst>
            </a:pPr>
            <a:r>
              <a:rPr lang="en-US" sz="4050" spc="97" baseline="1028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sz="4050" spc="-15" baseline="1028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microframework.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">
              <a:lnSpc>
                <a:spcPct val="100000"/>
              </a:lnSpc>
              <a:tabLst>
                <a:tab pos="3618865" algn="l"/>
              </a:tabLst>
            </a:pPr>
            <a:r>
              <a:rPr sz="2550" spc="7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sz="25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825" spc="179" baseline="1089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</a:t>
            </a:r>
            <a:r>
              <a:rPr sz="3825" spc="405" baseline="1089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25" spc="82" baseline="1089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sz="3825" spc="502" baseline="1089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25" spc="82" baseline="1089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825" spc="97" baseline="1089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825" spc="97" baseline="1089" dirty="0">
              <a:solidFill>
                <a:srgbClr val="3434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">
              <a:lnSpc>
                <a:spcPct val="100000"/>
              </a:lnSpc>
              <a:tabLst>
                <a:tab pos="3618865" algn="l"/>
              </a:tabLst>
            </a:pPr>
            <a:r>
              <a:rPr lang="en-US" sz="3825" spc="97" baseline="1089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sz="3825" spc="150" baseline="1089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</a:t>
            </a:r>
            <a:r>
              <a:rPr sz="3825" spc="382" baseline="1089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25" spc="-15" baseline="1089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runtime.</a:t>
            </a:r>
            <a:endParaRPr sz="3825" baseline="108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2A235430-41F6-ABD1-E56B-7E0D4A5D01AE}"/>
              </a:ext>
            </a:extLst>
          </p:cNvPr>
          <p:cNvSpPr txBox="1"/>
          <p:nvPr/>
        </p:nvSpPr>
        <p:spPr>
          <a:xfrm>
            <a:off x="4731873" y="4876148"/>
            <a:ext cx="2012314" cy="40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</a:t>
            </a:r>
            <a:endParaRPr sz="25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4022C82A-9F3C-16AD-9C85-881586A53797}"/>
              </a:ext>
            </a:extLst>
          </p:cNvPr>
          <p:cNvSpPr txBox="1"/>
          <p:nvPr/>
        </p:nvSpPr>
        <p:spPr>
          <a:xfrm>
            <a:off x="4732970" y="5889860"/>
            <a:ext cx="1555115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155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sz="2450" spc="135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50" spc="135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endParaRPr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E2ED118B-8F38-0D1B-887E-E766E48C1510}"/>
              </a:ext>
            </a:extLst>
          </p:cNvPr>
          <p:cNvSpPr txBox="1"/>
          <p:nvPr/>
        </p:nvSpPr>
        <p:spPr>
          <a:xfrm>
            <a:off x="8330406" y="4843426"/>
            <a:ext cx="5090291" cy="8919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2800" spc="4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scaling,</a:t>
            </a:r>
            <a:r>
              <a:rPr sz="2800" spc="-4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networking,</a:t>
            </a:r>
            <a:r>
              <a:rPr sz="28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9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spc="-90" dirty="0">
              <a:solidFill>
                <a:srgbClr val="3B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spc="-17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self—</a:t>
            </a:r>
            <a:r>
              <a:rPr sz="2800" spc="-11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healing.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7FE1171C-5023-AE9C-B5B9-58D83080563E}"/>
              </a:ext>
            </a:extLst>
          </p:cNvPr>
          <p:cNvSpPr txBox="1"/>
          <p:nvPr/>
        </p:nvSpPr>
        <p:spPr>
          <a:xfrm>
            <a:off x="8331961" y="5840778"/>
            <a:ext cx="5090291" cy="8919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sz="2800" spc="5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sz="2800" spc="4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sz="2800" spc="15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3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spc="-35" dirty="0">
              <a:solidFill>
                <a:srgbClr val="3636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hosting</a:t>
            </a:r>
            <a:r>
              <a:rPr sz="2800" spc="-35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Minikube.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230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object 2">
            <a:extLst>
              <a:ext uri="{FF2B5EF4-FFF2-40B4-BE49-F238E27FC236}">
                <a16:creationId xmlns:a16="http://schemas.microsoft.com/office/drawing/2014/main" id="{C4C191F4-DFBB-8C34-8CA7-BE797EF20C8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7712" y="6386564"/>
            <a:ext cx="8819103" cy="777463"/>
          </a:xfrm>
          <a:prstGeom prst="rect">
            <a:avLst/>
          </a:prstGeom>
        </p:spPr>
      </p:pic>
      <p:pic>
        <p:nvPicPr>
          <p:cNvPr id="45" name="object 4">
            <a:extLst>
              <a:ext uri="{FF2B5EF4-FFF2-40B4-BE49-F238E27FC236}">
                <a16:creationId xmlns:a16="http://schemas.microsoft.com/office/drawing/2014/main" id="{5AF298B9-D1EF-5B8B-E933-7ABE4553438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7712" y="3166019"/>
            <a:ext cx="8795543" cy="1036617"/>
          </a:xfrm>
          <a:prstGeom prst="rect">
            <a:avLst/>
          </a:prstGeom>
        </p:spPr>
      </p:pic>
      <p:sp>
        <p:nvSpPr>
          <p:cNvPr id="47" name="object 6" descr="$PPTXTitle">
            <a:extLst>
              <a:ext uri="{FF2B5EF4-FFF2-40B4-BE49-F238E27FC236}">
                <a16:creationId xmlns:a16="http://schemas.microsoft.com/office/drawing/2014/main" id="{15AB4050-FD07-84C2-1AD3-E7A30FED4509}"/>
              </a:ext>
            </a:extLst>
          </p:cNvPr>
          <p:cNvSpPr txBox="1">
            <a:spLocks/>
          </p:cNvSpPr>
          <p:nvPr/>
        </p:nvSpPr>
        <p:spPr>
          <a:xfrm>
            <a:off x="827485" y="752983"/>
            <a:ext cx="12187475" cy="754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 algn="ctr" defTabSz="548640" rtl="0" eaLnBrk="1" latinLnBrk="0" hangingPunct="1">
              <a:spcBef>
                <a:spcPct val="0"/>
              </a:spcBef>
              <a:buNone/>
              <a:defRPr sz="528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9370">
              <a:spcBef>
                <a:spcPts val="125"/>
              </a:spcBef>
            </a:pPr>
            <a:r>
              <a:rPr lang="en-IN" sz="4800" spc="60" dirty="0">
                <a:solidFill>
                  <a:srgbClr val="0033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n-IN" sz="4800" spc="-320" dirty="0">
                <a:solidFill>
                  <a:srgbClr val="0033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spc="-475" dirty="0">
                <a:solidFill>
                  <a:srgbClr val="0333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IN" sz="4800" spc="-165" dirty="0">
                <a:solidFill>
                  <a:srgbClr val="0333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4800" dirty="0">
                <a:solidFill>
                  <a:srgbClr val="0136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Dockerization</a:t>
            </a:r>
            <a:r>
              <a:rPr lang="en-IN" sz="4800" spc="470" dirty="0">
                <a:solidFill>
                  <a:srgbClr val="0136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dirty="0">
                <a:solidFill>
                  <a:srgbClr val="003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4800" spc="-110" dirty="0">
                <a:solidFill>
                  <a:srgbClr val="003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spc="-25" dirty="0">
                <a:solidFill>
                  <a:srgbClr val="01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Hub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bject 7">
            <a:extLst>
              <a:ext uri="{FF2B5EF4-FFF2-40B4-BE49-F238E27FC236}">
                <a16:creationId xmlns:a16="http://schemas.microsoft.com/office/drawing/2014/main" id="{EBED4C52-A45E-DC4B-00A1-E752B4FDE1A0}"/>
              </a:ext>
            </a:extLst>
          </p:cNvPr>
          <p:cNvSpPr txBox="1"/>
          <p:nvPr/>
        </p:nvSpPr>
        <p:spPr>
          <a:xfrm>
            <a:off x="973792" y="1709137"/>
            <a:ext cx="13214648" cy="114108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20" dirty="0">
                <a:solidFill>
                  <a:srgbClr val="002D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550" spc="-140" dirty="0">
                <a:solidFill>
                  <a:srgbClr val="002D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dirty="0">
                <a:solidFill>
                  <a:srgbClr val="0031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2550" spc="50" dirty="0">
                <a:solidFill>
                  <a:srgbClr val="0031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dirty="0">
                <a:solidFill>
                  <a:srgbClr val="052F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550" spc="-50" dirty="0">
                <a:solidFill>
                  <a:srgbClr val="052F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spc="-20" dirty="0">
                <a:solidFill>
                  <a:srgbClr val="0A3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Tést</a:t>
            </a:r>
            <a:endParaRPr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marR="5080" indent="635">
              <a:lnSpc>
                <a:spcPct val="117800"/>
              </a:lnSpc>
              <a:spcBef>
                <a:spcPts val="2030"/>
              </a:spcBef>
            </a:pPr>
            <a:r>
              <a:rPr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Packaging</a:t>
            </a:r>
            <a:r>
              <a:rPr sz="2800" spc="7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75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800" spc="-65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sz="2800" spc="315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50" dirty="0">
                <a:solidFill>
                  <a:srgbClr val="233F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sz="2800" spc="-10" dirty="0">
                <a:solidFill>
                  <a:srgbClr val="233F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sz="2800" spc="-5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800" spc="75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spc="-1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immutable</a:t>
            </a:r>
            <a:r>
              <a:rPr sz="2800" spc="-11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bject 8">
            <a:extLst>
              <a:ext uri="{FF2B5EF4-FFF2-40B4-BE49-F238E27FC236}">
                <a16:creationId xmlns:a16="http://schemas.microsoft.com/office/drawing/2014/main" id="{C83059B2-8727-C963-A61E-E5B9C407D299}"/>
              </a:ext>
            </a:extLst>
          </p:cNvPr>
          <p:cNvSpPr txBox="1"/>
          <p:nvPr/>
        </p:nvSpPr>
        <p:spPr>
          <a:xfrm>
            <a:off x="973792" y="4739928"/>
            <a:ext cx="2597785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65" dirty="0">
                <a:solidFill>
                  <a:srgbClr val="0036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2700" spc="-285" dirty="0">
                <a:solidFill>
                  <a:srgbClr val="0036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50" dirty="0">
                <a:solidFill>
                  <a:srgbClr val="003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sz="2700" spc="-355" dirty="0">
                <a:solidFill>
                  <a:srgbClr val="003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135" dirty="0">
                <a:solidFill>
                  <a:srgbClr val="00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Registry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bject 9">
            <a:extLst>
              <a:ext uri="{FF2B5EF4-FFF2-40B4-BE49-F238E27FC236}">
                <a16:creationId xmlns:a16="http://schemas.microsoft.com/office/drawing/2014/main" id="{AFB62BEC-74EF-DB82-1D41-1060E70EE69C}"/>
              </a:ext>
            </a:extLst>
          </p:cNvPr>
          <p:cNvSpPr txBox="1"/>
          <p:nvPr/>
        </p:nvSpPr>
        <p:spPr>
          <a:xfrm>
            <a:off x="973790" y="5411122"/>
            <a:ext cx="14007129" cy="5232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Pushing</a:t>
            </a:r>
            <a:r>
              <a:rPr sz="2800" spc="35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65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tagged</a:t>
            </a:r>
            <a:r>
              <a:rPr sz="2800" spc="-1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sz="2800" spc="-3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105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sz="2800" spc="-5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2D44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Hub</a:t>
            </a:r>
            <a:r>
              <a:rPr sz="2800" spc="55" dirty="0">
                <a:solidFill>
                  <a:srgbClr val="2D44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85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sz="2800" spc="-4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2800" spc="-1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50" spc="-1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  <a:endParaRPr sz="2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476EE-199B-4F12-2D65-99A3FFAC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 descr="$PPTXTitle">
            <a:extLst>
              <a:ext uri="{FF2B5EF4-FFF2-40B4-BE49-F238E27FC236}">
                <a16:creationId xmlns:a16="http://schemas.microsoft.com/office/drawing/2014/main" id="{1030416F-CE39-FBD4-3B0B-294C2D5A638E}"/>
              </a:ext>
            </a:extLst>
          </p:cNvPr>
          <p:cNvSpPr txBox="1">
            <a:spLocks/>
          </p:cNvSpPr>
          <p:nvPr/>
        </p:nvSpPr>
        <p:spPr>
          <a:xfrm>
            <a:off x="827485" y="844423"/>
            <a:ext cx="13268960" cy="754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 algn="ctr" defTabSz="548640" rtl="0" eaLnBrk="1" latinLnBrk="0" hangingPunct="1">
              <a:spcBef>
                <a:spcPct val="0"/>
              </a:spcBef>
              <a:buNone/>
              <a:defRPr sz="528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9370">
              <a:spcBef>
                <a:spcPts val="125"/>
              </a:spcBef>
            </a:pPr>
            <a:r>
              <a:rPr lang="en-US" sz="4800" spc="60" dirty="0">
                <a:solidFill>
                  <a:srgbClr val="0033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n-US" sz="4800" spc="-270" dirty="0">
                <a:solidFill>
                  <a:srgbClr val="0033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65" dirty="0">
                <a:solidFill>
                  <a:srgbClr val="0034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en-US" sz="4800" spc="-480" dirty="0">
                <a:solidFill>
                  <a:srgbClr val="0034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0034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4800" spc="160" dirty="0">
                <a:solidFill>
                  <a:srgbClr val="0034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285" dirty="0">
                <a:solidFill>
                  <a:srgbClr val="0333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4800" spc="-60" dirty="0">
                <a:solidFill>
                  <a:srgbClr val="0333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105" dirty="0">
                <a:solidFill>
                  <a:srgbClr val="0033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K8s</a:t>
            </a:r>
            <a:r>
              <a:rPr lang="en-US" sz="4800" spc="-190" dirty="0">
                <a:solidFill>
                  <a:srgbClr val="0033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10" dirty="0">
                <a:solidFill>
                  <a:srgbClr val="0133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C576314-B6FD-A882-788A-AAAA440BE3B0}"/>
              </a:ext>
            </a:extLst>
          </p:cNvPr>
          <p:cNvSpPr txBox="1"/>
          <p:nvPr/>
        </p:nvSpPr>
        <p:spPr>
          <a:xfrm>
            <a:off x="1209353" y="1869242"/>
            <a:ext cx="6349687" cy="20569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5" dirty="0">
                <a:solidFill>
                  <a:srgbClr val="FF5E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  <a:r>
              <a:rPr sz="3200" spc="-75" dirty="0">
                <a:solidFill>
                  <a:srgbClr val="FF5E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solidFill>
                  <a:srgbClr val="FB5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Provisioning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4" marR="5080">
              <a:lnSpc>
                <a:spcPct val="116900"/>
              </a:lnSpc>
              <a:spcBef>
                <a:spcPts val="2205"/>
              </a:spcBef>
            </a:pPr>
            <a:r>
              <a:rPr sz="2400" spc="-2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sz="2400" spc="14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35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1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m7i-</a:t>
            </a:r>
            <a:r>
              <a:rPr sz="2400" spc="85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flex.large</a:t>
            </a:r>
            <a:r>
              <a:rPr sz="2400" spc="-29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Ubuntu</a:t>
            </a:r>
            <a:r>
              <a:rPr sz="2400" spc="-1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</a:t>
            </a:r>
            <a:r>
              <a:rPr sz="24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16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3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eu—</a:t>
            </a:r>
            <a:r>
              <a:rPr sz="2400" spc="-35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north—</a:t>
            </a:r>
            <a:r>
              <a:rPr sz="2400" spc="-1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400" spc="11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sz="2400" spc="4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</a:t>
            </a:r>
            <a:r>
              <a:rPr sz="2400" spc="35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configured</a:t>
            </a:r>
            <a:r>
              <a:rPr sz="2400" spc="7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70" dirty="0"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10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SSH</a:t>
            </a:r>
            <a:r>
              <a:rPr sz="2400" spc="-120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spc="-1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NodePort</a:t>
            </a:r>
            <a:r>
              <a:rPr sz="2400" spc="-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B5BB56F8-6CFE-739E-37EC-A8ABACB11443}"/>
              </a:ext>
            </a:extLst>
          </p:cNvPr>
          <p:cNvSpPr txBox="1"/>
          <p:nvPr/>
        </p:nvSpPr>
        <p:spPr>
          <a:xfrm>
            <a:off x="920750" y="5039901"/>
            <a:ext cx="6394450" cy="181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FF670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sz="3350" spc="85" dirty="0">
                <a:solidFill>
                  <a:srgbClr val="FF670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50" spc="60" dirty="0">
                <a:solidFill>
                  <a:srgbClr val="FD64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Manifests</a:t>
            </a:r>
            <a:endParaRPr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" marR="5080" indent="-5715">
              <a:lnSpc>
                <a:spcPct val="115900"/>
              </a:lnSpc>
              <a:spcBef>
                <a:spcPts val="2240"/>
              </a:spcBef>
            </a:pPr>
            <a:r>
              <a:rPr sz="2800" spc="-4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</a:t>
            </a:r>
            <a:r>
              <a:rPr sz="2800" spc="25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r>
              <a:rPr sz="2800" spc="-45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replicas</a:t>
            </a:r>
            <a:r>
              <a:rPr sz="2800" spc="75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233B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40" dirty="0">
                <a:solidFill>
                  <a:srgbClr val="233B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sz="2800" spc="4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sz="2800" spc="105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2F42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  <a:r>
              <a:rPr sz="2800" spc="-5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sz="2800" spc="-55" dirty="0">
                <a:solidFill>
                  <a:srgbClr val="344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800" spc="-5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yaml.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2B36DCC-7CF6-A36C-9ABA-F28D57A1411C}"/>
              </a:ext>
            </a:extLst>
          </p:cNvPr>
          <p:cNvSpPr txBox="1"/>
          <p:nvPr/>
        </p:nvSpPr>
        <p:spPr>
          <a:xfrm>
            <a:off x="7665720" y="1869242"/>
            <a:ext cx="5862007" cy="2279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60" dirty="0">
                <a:solidFill>
                  <a:srgbClr val="FF6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Minikube</a:t>
            </a:r>
            <a:r>
              <a:rPr sz="3350" spc="250" dirty="0">
                <a:solidFill>
                  <a:srgbClr val="FF64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50" spc="-10" dirty="0">
                <a:solidFill>
                  <a:srgbClr val="F96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endParaRPr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" marR="5080">
              <a:lnSpc>
                <a:spcPct val="115900"/>
              </a:lnSpc>
              <a:spcBef>
                <a:spcPts val="2175"/>
              </a:spcBef>
            </a:pPr>
            <a:r>
              <a:rPr sz="2800" spc="-3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Initializing</a:t>
            </a:r>
            <a:r>
              <a:rPr sz="2800" spc="-5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05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60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5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single—</a:t>
            </a:r>
            <a:r>
              <a:rPr sz="2800" spc="-95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sz="2800" spc="7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sz="2800" spc="35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r>
              <a:rPr sz="2800" spc="-6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2800" spc="-135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95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EC2</a:t>
            </a:r>
            <a:r>
              <a:rPr sz="2800" spc="-65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sz="2800" spc="145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spc="-7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3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sz="2800" spc="-2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E8D03CB3-538E-02EA-9A12-A89061A6622E}"/>
              </a:ext>
            </a:extLst>
          </p:cNvPr>
          <p:cNvSpPr txBox="1"/>
          <p:nvPr/>
        </p:nvSpPr>
        <p:spPr>
          <a:xfrm>
            <a:off x="7665720" y="4819119"/>
            <a:ext cx="5684520" cy="181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FF6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3350" spc="-85" dirty="0">
                <a:solidFill>
                  <a:srgbClr val="FF6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50" spc="60" dirty="0">
                <a:solidFill>
                  <a:srgbClr val="FF67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Manifests</a:t>
            </a:r>
            <a:endParaRPr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" marR="5080" indent="-16510">
              <a:lnSpc>
                <a:spcPct val="117800"/>
              </a:lnSpc>
              <a:spcBef>
                <a:spcPts val="2115"/>
              </a:spcBef>
            </a:pPr>
            <a:r>
              <a:rPr sz="2800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Exposing</a:t>
            </a:r>
            <a:r>
              <a:rPr sz="2800" spc="75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7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sz="2800" spc="1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internally</a:t>
            </a:r>
            <a:r>
              <a:rPr sz="2800" spc="1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4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externally</a:t>
            </a:r>
            <a:r>
              <a:rPr sz="2800" spc="195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3636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  <a:r>
              <a:rPr sz="2800" spc="9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service.</a:t>
            </a:r>
            <a:r>
              <a:rPr sz="2800" spc="-18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85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yaml</a:t>
            </a:r>
            <a:r>
              <a:rPr sz="2800" spc="5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NodePort.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039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66929B-D82B-03F3-E0E8-8D8641777DB8}"/>
              </a:ext>
            </a:extLst>
          </p:cNvPr>
          <p:cNvSpPr txBox="1"/>
          <p:nvPr/>
        </p:nvSpPr>
        <p:spPr>
          <a:xfrm>
            <a:off x="880946" y="852171"/>
            <a:ext cx="13437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0">
              <a:spcBef>
                <a:spcPts val="305"/>
              </a:spcBef>
              <a:spcAft>
                <a:spcPts val="0"/>
              </a:spcAft>
            </a:pPr>
            <a:r>
              <a:rPr lang="en-US" sz="3600" u="sng" dirty="0">
                <a:solidFill>
                  <a:srgbClr val="161613"/>
                </a:solidFill>
                <a:latin typeface="DM Sans Medium" pitchFamily="34" charset="0"/>
              </a:rPr>
              <a:t>Screenshots / Output Results:</a:t>
            </a:r>
            <a:endParaRPr lang="en-IN" sz="3600" u="sng" dirty="0">
              <a:solidFill>
                <a:srgbClr val="161613"/>
              </a:solidFill>
              <a:latin typeface="DM Sans Medium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A08FC-2130-2E2E-B9A4-F557E6B52F7E}"/>
              </a:ext>
            </a:extLst>
          </p:cNvPr>
          <p:cNvSpPr txBox="1"/>
          <p:nvPr/>
        </p:nvSpPr>
        <p:spPr>
          <a:xfrm>
            <a:off x="1037065" y="1700345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161613"/>
                </a:solidFill>
                <a:latin typeface="DM Sans Medium" pitchFamily="34" charset="0"/>
              </a:rPr>
              <a:t>Application User Interface (Homepage)</a:t>
            </a:r>
            <a:endParaRPr lang="en-IN" sz="2400" dirty="0">
              <a:solidFill>
                <a:srgbClr val="161613"/>
              </a:solidFill>
              <a:latin typeface="DM Sans Medium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FE7E13-7CCC-343A-8A2D-FE2D9106D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188" y="2425408"/>
            <a:ext cx="9416024" cy="50009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2449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04826-B19B-AF6A-FE2A-F64ADF84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3589857-D85F-B0AB-1D4E-00F7B9BF8F05}"/>
              </a:ext>
            </a:extLst>
          </p:cNvPr>
          <p:cNvSpPr txBox="1"/>
          <p:nvPr/>
        </p:nvSpPr>
        <p:spPr>
          <a:xfrm>
            <a:off x="959006" y="1113187"/>
            <a:ext cx="92822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u="sng" dirty="0">
                <a:solidFill>
                  <a:srgbClr val="161613"/>
                </a:solidFill>
                <a:latin typeface="DM Sans Medium" pitchFamily="34" charset="0"/>
              </a:rPr>
              <a:t>Container Runtime Environnent (Docker PS)</a:t>
            </a:r>
            <a:endParaRPr lang="en-IN" sz="2400" u="sng" dirty="0">
              <a:solidFill>
                <a:srgbClr val="161613"/>
              </a:solidFill>
              <a:latin typeface="DM Sans Medium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05B28D-17D6-5FF4-FEDB-77C441365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06" y="2630180"/>
            <a:ext cx="12725314" cy="2969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640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8F0E0-3E5B-3106-D6CF-676E54C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146EA55-72FB-637C-4DA3-FC7958D09F1A}"/>
              </a:ext>
            </a:extLst>
          </p:cNvPr>
          <p:cNvSpPr txBox="1"/>
          <p:nvPr/>
        </p:nvSpPr>
        <p:spPr>
          <a:xfrm>
            <a:off x="959006" y="1113187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u="sng" dirty="0">
                <a:solidFill>
                  <a:srgbClr val="161613"/>
                </a:solidFill>
                <a:latin typeface="DM Sans Medium" pitchFamily="34" charset="0"/>
              </a:rPr>
              <a:t>Kubernetes Pods &amp; Services</a:t>
            </a:r>
            <a:endParaRPr lang="en-IN" sz="2400" u="sng" dirty="0">
              <a:solidFill>
                <a:srgbClr val="161613"/>
              </a:solidFill>
              <a:latin typeface="DM Sans Medium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8F243C-F88D-6E0B-F682-BE6E5FD3E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15"/>
          <a:stretch>
            <a:fillRect/>
          </a:stretch>
        </p:blipFill>
        <p:spPr bwMode="auto">
          <a:xfrm>
            <a:off x="1172366" y="2131218"/>
            <a:ext cx="12513154" cy="47876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8443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E9965-2BE1-B7FD-750A-CA9B316E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E500DDA-9F17-7650-773E-2D996A04D4E2}"/>
              </a:ext>
            </a:extLst>
          </p:cNvPr>
          <p:cNvSpPr txBox="1"/>
          <p:nvPr/>
        </p:nvSpPr>
        <p:spPr>
          <a:xfrm>
            <a:off x="959006" y="1113187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u="sng" dirty="0">
                <a:solidFill>
                  <a:srgbClr val="161613"/>
                </a:solidFill>
                <a:latin typeface="DM Sans Medium" pitchFamily="34" charset="0"/>
              </a:rPr>
              <a:t>AWS EC2 Dashboard</a:t>
            </a:r>
            <a:endParaRPr lang="en-IN" sz="2400" u="sng" dirty="0">
              <a:solidFill>
                <a:srgbClr val="161613"/>
              </a:solidFill>
              <a:latin typeface="DM Sans Medium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410F0-C818-22C2-929D-EFCE83CE7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2454275"/>
            <a:ext cx="12253937" cy="26663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987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7A27-A08C-E3E1-16B6-929ABB43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E3610B-44A7-5979-7D17-F7900A844E89}"/>
              </a:ext>
            </a:extLst>
          </p:cNvPr>
          <p:cNvSpPr txBox="1"/>
          <p:nvPr/>
        </p:nvSpPr>
        <p:spPr>
          <a:xfrm>
            <a:off x="1315067" y="1128242"/>
            <a:ext cx="13668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0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161613"/>
                </a:solidFill>
                <a:latin typeface="DM Sans Medium" pitchFamily="34" charset="0"/>
              </a:rPr>
              <a:t>GitHub Link:</a:t>
            </a:r>
            <a:endParaRPr lang="en-IN" sz="3200" dirty="0">
              <a:solidFill>
                <a:srgbClr val="161613"/>
              </a:solidFill>
              <a:latin typeface="DM Sans Medium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8DBDC-20D3-C11E-150C-1FCED2DD23C9}"/>
              </a:ext>
            </a:extLst>
          </p:cNvPr>
          <p:cNvSpPr txBox="1"/>
          <p:nvPr/>
        </p:nvSpPr>
        <p:spPr>
          <a:xfrm>
            <a:off x="1543853" y="1912752"/>
            <a:ext cx="12280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https://github.com/HimanshuFulera/notes-app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349BFD-94A0-7F98-E84E-C2E84687529A}"/>
              </a:ext>
            </a:extLst>
          </p:cNvPr>
          <p:cNvSpPr txBox="1"/>
          <p:nvPr/>
        </p:nvSpPr>
        <p:spPr>
          <a:xfrm>
            <a:off x="1315067" y="3220483"/>
            <a:ext cx="13668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0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161613"/>
                </a:solidFill>
                <a:latin typeface="DM Sans Medium" pitchFamily="34" charset="0"/>
              </a:rPr>
              <a:t>Hosted Website Link:</a:t>
            </a:r>
            <a:endParaRPr lang="en-IN" sz="3200" dirty="0">
              <a:solidFill>
                <a:srgbClr val="161613"/>
              </a:solidFill>
              <a:latin typeface="DM Sans Medium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29503-51A9-982E-AD6C-E5C799975A9B}"/>
              </a:ext>
            </a:extLst>
          </p:cNvPr>
          <p:cNvSpPr txBox="1"/>
          <p:nvPr/>
        </p:nvSpPr>
        <p:spPr>
          <a:xfrm>
            <a:off x="1543853" y="4114800"/>
            <a:ext cx="122807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http://16.170.204.49:30007/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073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8524F-9CDF-1FAA-A119-CE12D3AE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E49EA9-AE2A-0453-35E6-E988B6DEAA98}"/>
              </a:ext>
            </a:extLst>
          </p:cNvPr>
          <p:cNvSpPr txBox="1"/>
          <p:nvPr/>
        </p:nvSpPr>
        <p:spPr>
          <a:xfrm>
            <a:off x="961688" y="1120166"/>
            <a:ext cx="13668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0">
              <a:spcBef>
                <a:spcPts val="0"/>
              </a:spcBef>
              <a:spcAft>
                <a:spcPts val="0"/>
              </a:spcAft>
            </a:pPr>
            <a:r>
              <a:rPr lang="en-US" sz="3200" u="sng" dirty="0">
                <a:solidFill>
                  <a:srgbClr val="161613"/>
                </a:solidFill>
                <a:latin typeface="DM Sans Medium" pitchFamily="34" charset="0"/>
              </a:rPr>
              <a:t>Future Scope:</a:t>
            </a:r>
            <a:endParaRPr lang="en-IN" sz="3200" u="sng" dirty="0">
              <a:solidFill>
                <a:srgbClr val="161613"/>
              </a:solidFill>
              <a:latin typeface="DM Sans Medium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FBF79-5ADC-E23C-3ADB-66E0E41BE1B3}"/>
              </a:ext>
            </a:extLst>
          </p:cNvPr>
          <p:cNvSpPr txBox="1"/>
          <p:nvPr/>
        </p:nvSpPr>
        <p:spPr>
          <a:xfrm>
            <a:off x="1174830" y="2149235"/>
            <a:ext cx="122807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CI/CD Integration: Implement a Jenkins pipeline for automated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Persistent Storage: Integrate AWS RDS or Kubernetes Persistent Volumes to prevent data loss.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Domain Mapping &amp; SSL: Map EC2 IPv4 to a custom domain using AWS Route53 and secure endpoints with HTTPS.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C5FB6-A75E-AC3F-2BDF-C47A9A29ECDD}"/>
              </a:ext>
            </a:extLst>
          </p:cNvPr>
          <p:cNvSpPr txBox="1"/>
          <p:nvPr/>
        </p:nvSpPr>
        <p:spPr>
          <a:xfrm>
            <a:off x="961688" y="4084372"/>
            <a:ext cx="13668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0">
              <a:spcBef>
                <a:spcPts val="0"/>
              </a:spcBef>
              <a:spcAft>
                <a:spcPts val="0"/>
              </a:spcAft>
            </a:pPr>
            <a:r>
              <a:rPr lang="en-US" sz="3200" u="sng" dirty="0">
                <a:solidFill>
                  <a:srgbClr val="161613"/>
                </a:solidFill>
                <a:latin typeface="DM Sans Medium" pitchFamily="34" charset="0"/>
              </a:rPr>
              <a:t>Conclusion</a:t>
            </a:r>
            <a:endParaRPr lang="en-IN" sz="3200" u="sng" dirty="0">
              <a:solidFill>
                <a:srgbClr val="161613"/>
              </a:solidFill>
              <a:latin typeface="DM Sans Medium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F19AA-1BB0-088F-A05C-87F9B4F14E13}"/>
              </a:ext>
            </a:extLst>
          </p:cNvPr>
          <p:cNvSpPr txBox="1"/>
          <p:nvPr/>
        </p:nvSpPr>
        <p:spPr>
          <a:xfrm>
            <a:off x="1174829" y="4983875"/>
            <a:ext cx="12280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Containerized Notes Application successfully bridges the gap between software development and IT operations. By integrating Docker for consistent artifact generation and Kubernetes for resilient deployment, the project guarantees zero-downtime potential and high scalability. Deploying the cluster on AWS EC2 provided hands-on exposure to cloud provisioning, network security groups, and public internet routing.</a:t>
            </a:r>
            <a:endParaRPr lang="en-IN" sz="2400" dirty="0">
              <a:solidFill>
                <a:srgbClr val="161613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1556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</TotalTime>
  <Words>486</Words>
  <Application>Microsoft Office PowerPoint</Application>
  <PresentationFormat>Custom</PresentationFormat>
  <Paragraphs>62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DM Sans Medium</vt:lpstr>
      <vt:lpstr>Symbol</vt:lpstr>
      <vt:lpstr>Garamond</vt:lpstr>
      <vt:lpstr>Arial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Himanshu Fulera</cp:lastModifiedBy>
  <cp:revision>34</cp:revision>
  <dcterms:created xsi:type="dcterms:W3CDTF">2024-10-17T08:35:22Z</dcterms:created>
  <dcterms:modified xsi:type="dcterms:W3CDTF">2026-05-29T14:02:37Z</dcterms:modified>
</cp:coreProperties>
</file>